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2"/>
        <p:guide pos="38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8.png"/><Relationship Id="rId20" Type="http://schemas.openxmlformats.org/officeDocument/2006/relationships/vmlDrawing" Target="../drawings/vmlDrawing2.vml"/><Relationship Id="rId2" Type="http://schemas.openxmlformats.org/officeDocument/2006/relationships/image" Target="../media/image7.png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2.xml"/><Relationship Id="rId17" Type="http://schemas.openxmlformats.org/officeDocument/2006/relationships/image" Target="../media/image19.wmf"/><Relationship Id="rId16" Type="http://schemas.openxmlformats.org/officeDocument/2006/relationships/oleObject" Target="../embeddings/oleObject3.bin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1903095" y="905510"/>
            <a:ext cx="7157085" cy="6076950"/>
            <a:chOff x="2997" y="1426"/>
            <a:chExt cx="11271" cy="9570"/>
          </a:xfrm>
        </p:grpSpPr>
        <p:pic>
          <p:nvPicPr>
            <p:cNvPr id="21" name="图片 20" descr="同心圆环_仅圆环浅黄色版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  <a:alpha val="0"/>
                  </a:srgbClr>
                </a:clrTo>
              </a:clrChange>
            </a:blip>
            <a:srcRect l="8120" t="9157" r="8593" b="9269"/>
            <a:stretch>
              <a:fillRect/>
            </a:stretch>
          </p:blipFill>
          <p:spPr>
            <a:xfrm>
              <a:off x="2997" y="2186"/>
              <a:ext cx="8995" cy="8810"/>
            </a:xfrm>
            <a:prstGeom prst="rect">
              <a:avLst/>
            </a:prstGeom>
          </p:spPr>
        </p:pic>
        <p:grpSp>
          <p:nvGrpSpPr>
            <p:cNvPr id="15" name="组合 14"/>
            <p:cNvGrpSpPr/>
            <p:nvPr/>
          </p:nvGrpSpPr>
          <p:grpSpPr>
            <a:xfrm>
              <a:off x="6118" y="5927"/>
              <a:ext cx="8151" cy="4382"/>
              <a:chOff x="4802" y="4730"/>
              <a:chExt cx="8151" cy="4382"/>
            </a:xfrm>
          </p:grpSpPr>
          <p:cxnSp>
            <p:nvCxnSpPr>
              <p:cNvPr id="6" name="直接箭头连接符 5"/>
              <p:cNvCxnSpPr/>
              <p:nvPr/>
            </p:nvCxnSpPr>
            <p:spPr>
              <a:xfrm>
                <a:off x="8226" y="5417"/>
                <a:ext cx="730" cy="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文本框 6"/>
                  <p:cNvSpPr txBox="1"/>
                  <p:nvPr/>
                </p:nvSpPr>
                <p:spPr>
                  <a:xfrm>
                    <a:off x="8175" y="4866"/>
                    <a:ext cx="796" cy="641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no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𝑑𝑟</m:t>
                          </m:r>
                        </m:oMath>
                      </m:oMathPara>
                    </a14:m>
                    <a:endParaRPr lang="en-US" altLang="zh-CN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  <a:p>
                    <a:pPr algn="l"/>
                    <a:endParaRPr lang="en-US" altLang="zh-CN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7" name="文本框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75" y="4866"/>
                    <a:ext cx="796" cy="641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流程图: 联系 7"/>
              <p:cNvSpPr/>
              <p:nvPr/>
            </p:nvSpPr>
            <p:spPr>
              <a:xfrm>
                <a:off x="6144" y="5312"/>
                <a:ext cx="120" cy="120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文本框 9"/>
                  <p:cNvSpPr txBox="1"/>
                  <p:nvPr/>
                </p:nvSpPr>
                <p:spPr>
                  <a:xfrm>
                    <a:off x="7136" y="4730"/>
                    <a:ext cx="591" cy="500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no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3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oMath>
                      </m:oMathPara>
                    </a14:m>
                    <a:endParaRPr lang="en-US" altLang="zh-CN" sz="32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  <a:p>
                    <a:pPr algn="l"/>
                    <a:endParaRPr lang="en-US" altLang="zh-CN" sz="32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0" name="文本框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6" y="4730"/>
                    <a:ext cx="591" cy="500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直接箭头连接符 10"/>
              <p:cNvCxnSpPr/>
              <p:nvPr/>
            </p:nvCxnSpPr>
            <p:spPr>
              <a:xfrm>
                <a:off x="6201" y="5377"/>
                <a:ext cx="2071" cy="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8215" y="6916"/>
                <a:ext cx="1836" cy="1427"/>
              </a:xfrm>
              <a:prstGeom prst="line">
                <a:avLst/>
              </a:prstGeom>
              <a:ln w="31750">
                <a:gradFill>
                  <a:gsLst>
                    <a:gs pos="0">
                      <a:srgbClr val="92D050"/>
                    </a:gs>
                    <a:gs pos="100000">
                      <a:srgbClr val="FF0000"/>
                    </a:gs>
                  </a:gsLst>
                </a:gradFill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aphicFrame>
            <p:nvGraphicFramePr>
              <p:cNvPr id="13" name="对象 12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9510" y="5230"/>
              <a:ext cx="180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6" name="" r:id="rId4" imgW="114300" imgH="215900" progId="Equation.KSEE3">
                      <p:embed/>
                    </p:oleObj>
                  </mc:Choice>
                  <mc:Fallback>
                    <p:oleObj name="" r:id="rId4" imgW="114300" imgH="215900" progId="Equation.KSEE3">
                      <p:embed/>
                      <p:pic>
                        <p:nvPicPr>
                          <p:cNvPr id="0" name="图片 1025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9510" y="5230"/>
                            <a:ext cx="180" cy="34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文本框 13"/>
                  <p:cNvSpPr txBox="1"/>
                  <p:nvPr/>
                </p:nvSpPr>
                <p:spPr>
                  <a:xfrm>
                    <a:off x="8337" y="8290"/>
                    <a:ext cx="4616" cy="82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𝑑𝑉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≈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𝜋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𝑟𝐿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 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𝑑𝑟</m:t>
                          </m:r>
                        </m:oMath>
                      </m:oMathPara>
                    </a14:m>
                    <a:endParaRPr lang="en-US" altLang="zh-CN" sz="28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4" name="文本框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37" y="8290"/>
                    <a:ext cx="4616" cy="822"/>
                  </a:xfrm>
                  <a:prstGeom prst="rect">
                    <a:avLst/>
                  </a:prstGeom>
                  <a:blipFill rotWithShape="1">
                    <a:blip r:embed="rId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文本框 19"/>
              <p:cNvSpPr txBox="1"/>
              <p:nvPr/>
            </p:nvSpPr>
            <p:spPr>
              <a:xfrm>
                <a:off x="4802" y="6416"/>
                <a:ext cx="591" cy="50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:r>
                  <a:rPr lang="en-US" altLang="zh-CN" sz="3200">
                    <a:latin typeface="Cambria Math" panose="02040503050406030204" charset="0"/>
                    <a:cs typeface="Cambria Math" panose="02040503050406030204" charset="0"/>
                  </a:rPr>
                  <a:t>R</a:t>
                </a:r>
                <a:endParaRPr lang="en-US" altLang="zh-CN" sz="3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p:grpSp>
        <p:cxnSp>
          <p:nvCxnSpPr>
            <p:cNvPr id="19" name="直接箭头连接符 18"/>
            <p:cNvCxnSpPr/>
            <p:nvPr/>
          </p:nvCxnSpPr>
          <p:spPr>
            <a:xfrm flipH="1">
              <a:off x="4413" y="6606"/>
              <a:ext cx="3106" cy="287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V="1">
              <a:off x="8269" y="2019"/>
              <a:ext cx="69" cy="46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8105" y="1439"/>
              <a:ext cx="29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  <p:cxnSp>
          <p:nvCxnSpPr>
            <p:cNvPr id="24" name="直接连接符 23"/>
            <p:cNvCxnSpPr/>
            <p:nvPr/>
          </p:nvCxnSpPr>
          <p:spPr>
            <a:xfrm flipV="1">
              <a:off x="8735" y="2025"/>
              <a:ext cx="69" cy="46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8570" y="1439"/>
              <a:ext cx="29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  <p:cxnSp>
          <p:nvCxnSpPr>
            <p:cNvPr id="26" name="直接连接符 25"/>
            <p:cNvCxnSpPr/>
            <p:nvPr/>
          </p:nvCxnSpPr>
          <p:spPr>
            <a:xfrm flipV="1">
              <a:off x="9601" y="2017"/>
              <a:ext cx="69" cy="46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9497" y="1426"/>
              <a:ext cx="29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i</a:t>
              </a:r>
              <a:endParaRPr lang="en-US" altLang="zh-CN"/>
            </a:p>
          </p:txBody>
        </p:sp>
        <p:cxnSp>
          <p:nvCxnSpPr>
            <p:cNvPr id="28" name="直接连接符 27"/>
            <p:cNvCxnSpPr/>
            <p:nvPr/>
          </p:nvCxnSpPr>
          <p:spPr>
            <a:xfrm flipV="1">
              <a:off x="11229" y="2019"/>
              <a:ext cx="69" cy="46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" name="文本框 28"/>
            <p:cNvSpPr txBox="1"/>
            <p:nvPr/>
          </p:nvSpPr>
          <p:spPr>
            <a:xfrm>
              <a:off x="10859" y="1470"/>
              <a:ext cx="119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N-1</a:t>
              </a:r>
              <a:endParaRPr lang="en-US" altLang="zh-CN"/>
            </a:p>
          </p:txBody>
        </p:sp>
        <p:cxnSp>
          <p:nvCxnSpPr>
            <p:cNvPr id="30" name="直接连接符 29"/>
            <p:cNvCxnSpPr/>
            <p:nvPr/>
          </p:nvCxnSpPr>
          <p:spPr>
            <a:xfrm flipV="1">
              <a:off x="11713" y="2006"/>
              <a:ext cx="69" cy="46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11532" y="1470"/>
              <a:ext cx="6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N</a:t>
              </a:r>
              <a:endParaRPr lang="en-US" altLang="zh-CN"/>
            </a:p>
          </p:txBody>
        </p:sp>
      </p:grpSp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6038850" y="1362075"/>
            <a:ext cx="5207635" cy="3964940"/>
            <a:chOff x="9510" y="2145"/>
            <a:chExt cx="8201" cy="6244"/>
          </a:xfrm>
        </p:grpSpPr>
        <p:pic>
          <p:nvPicPr>
            <p:cNvPr id="48" name="图片 47" descr="浅黄色窄圆环底图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  <a:alpha val="0"/>
                  </a:srgbClr>
                </a:clrTo>
              </a:clrChange>
            </a:blip>
            <a:srcRect l="7744" t="9851" r="8050" b="8428"/>
            <a:stretch>
              <a:fillRect/>
            </a:stretch>
          </p:blipFill>
          <p:spPr>
            <a:xfrm>
              <a:off x="11954" y="3084"/>
              <a:ext cx="4676" cy="4538"/>
            </a:xfrm>
            <a:prstGeom prst="rect">
              <a:avLst/>
            </a:prstGeom>
          </p:spPr>
        </p:pic>
        <p:cxnSp>
          <p:nvCxnSpPr>
            <p:cNvPr id="17" name="直接连接符 16"/>
            <p:cNvCxnSpPr/>
            <p:nvPr/>
          </p:nvCxnSpPr>
          <p:spPr>
            <a:xfrm flipH="1">
              <a:off x="15561" y="4468"/>
              <a:ext cx="209" cy="21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14849" y="4588"/>
                  <a:ext cx="1248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49" y="4588"/>
                  <a:ext cx="1248" cy="580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15435" y="3299"/>
                  <a:ext cx="2276" cy="58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𝑑𝑟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35" y="3299"/>
                  <a:ext cx="2276" cy="58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aphicFrame>
          <p:nvGraphicFramePr>
            <p:cNvPr id="21" name="对象 20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510" y="5230"/>
            <a:ext cx="180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" r:id="rId4" imgW="114300" imgH="215900" progId="Equation.KSEE3">
                    <p:embed/>
                  </p:oleObj>
                </mc:Choice>
                <mc:Fallback>
                  <p:oleObj name="" r:id="rId4" imgW="114300" imgH="215900" progId="Equation.KSEE3">
                    <p:embed/>
                    <p:pic>
                      <p:nvPicPr>
                        <p:cNvPr id="0" name="图片 2051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510" y="5230"/>
                          <a:ext cx="180" cy="3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13024" y="6151"/>
                  <a:ext cx="2032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𝜋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𝑟𝐿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·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i="1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24" y="6151"/>
                  <a:ext cx="2032" cy="580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10176" y="7809"/>
                  <a:ext cx="4426" cy="58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𝜋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d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𝐿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·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d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i="1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6" y="7809"/>
                  <a:ext cx="4426" cy="580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直接连接符 23"/>
            <p:cNvCxnSpPr/>
            <p:nvPr/>
          </p:nvCxnSpPr>
          <p:spPr>
            <a:xfrm flipH="1">
              <a:off x="16097" y="3785"/>
              <a:ext cx="193" cy="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29" name="图片 28" descr="9615c552-8241-4ba4-9513-a2f58641d85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9380000">
              <a:off x="12264" y="5340"/>
              <a:ext cx="1390" cy="1496"/>
            </a:xfrm>
            <a:prstGeom prst="rect">
              <a:avLst/>
            </a:prstGeom>
          </p:spPr>
        </p:pic>
        <p:pic>
          <p:nvPicPr>
            <p:cNvPr id="30" name="图片 29" descr="e7285ad4-d0d5-4779-bf92-086220ab30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8420000">
              <a:off x="11678" y="6614"/>
              <a:ext cx="1898" cy="1478"/>
            </a:xfrm>
            <a:prstGeom prst="rect">
              <a:avLst/>
            </a:prstGeom>
          </p:spPr>
        </p:pic>
        <p:pic>
          <p:nvPicPr>
            <p:cNvPr id="32" name="图片 31" descr="d5ac3b23-34c7-4998-80d1-e0691376ab0a"/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DFEFE">
                    <a:alpha val="100000"/>
                  </a:srgbClr>
                </a:clrFrom>
                <a:clrTo>
                  <a:srgbClr val="FDFEFE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0800000">
              <a:off x="12617" y="3681"/>
              <a:ext cx="1220" cy="1220"/>
            </a:xfrm>
            <a:prstGeom prst="rect">
              <a:avLst/>
            </a:prstGeom>
          </p:spPr>
        </p:pic>
        <p:pic>
          <p:nvPicPr>
            <p:cNvPr id="33" name="图片 32" descr="76147c1f-0270-46fa-b2aa-74db5a3f4418"/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EFEFE">
                    <a:alpha val="100000"/>
                  </a:srgbClr>
                </a:clrFrom>
                <a:clrTo>
                  <a:srgbClr val="FEFEFE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1640000">
              <a:off x="11685" y="2190"/>
              <a:ext cx="2060" cy="206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本框 33"/>
                <p:cNvSpPr txBox="1"/>
                <p:nvPr/>
              </p:nvSpPr>
              <p:spPr>
                <a:xfrm>
                  <a:off x="12764" y="4492"/>
                  <a:ext cx="1761" cy="58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𝜋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𝑟𝐿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 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·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i="1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4" name="文本框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64" y="4492"/>
                  <a:ext cx="1761" cy="580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文本框 34"/>
                <p:cNvSpPr txBox="1"/>
                <p:nvPr/>
              </p:nvSpPr>
              <p:spPr>
                <a:xfrm>
                  <a:off x="10394" y="2145"/>
                  <a:ext cx="4131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𝜋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d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𝐿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·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 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d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i="1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5" name="文本框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4" y="2145"/>
                  <a:ext cx="4131" cy="580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椭圆 35"/>
            <p:cNvSpPr/>
            <p:nvPr/>
          </p:nvSpPr>
          <p:spPr>
            <a:xfrm>
              <a:off x="15734" y="4393"/>
              <a:ext cx="120" cy="12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6030" y="4021"/>
              <a:ext cx="120" cy="12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5769" y="6183"/>
              <a:ext cx="120" cy="12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6030" y="6500"/>
              <a:ext cx="120" cy="12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15628" y="5918"/>
              <a:ext cx="185" cy="2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16117" y="6603"/>
              <a:ext cx="156" cy="2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/>
                <p:cNvSpPr txBox="1"/>
                <p:nvPr/>
              </p:nvSpPr>
              <p:spPr>
                <a:xfrm>
                  <a:off x="15397" y="6867"/>
                  <a:ext cx="2276" cy="58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𝑑𝑟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97" y="6867"/>
                  <a:ext cx="2276" cy="580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文本框 42"/>
                <p:cNvSpPr txBox="1"/>
                <p:nvPr/>
              </p:nvSpPr>
              <p:spPr>
                <a:xfrm>
                  <a:off x="14880" y="5369"/>
                  <a:ext cx="1237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:r>
                    <a:rPr lang="en-US" altLang="zh-CN">
                      <a:latin typeface="Cambria Math" panose="02040503050406030204" charset="0"/>
                      <a:cs typeface="Cambria Math" panose="02040503050406030204" charset="0"/>
                    </a:rPr>
                    <a:t>C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𝑟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3" name="文本框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80" y="5369"/>
                  <a:ext cx="1237" cy="580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椭圆 43"/>
            <p:cNvSpPr/>
            <p:nvPr/>
          </p:nvSpPr>
          <p:spPr>
            <a:xfrm>
              <a:off x="14291" y="5225"/>
              <a:ext cx="120" cy="12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45" name="对象 44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4137" y="5329"/>
            <a:ext cx="475" cy="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" name="" r:id="rId16" imgW="152400" imgH="177165" progId="Equation.KSEE3">
                    <p:embed/>
                  </p:oleObj>
                </mc:Choice>
                <mc:Fallback>
                  <p:oleObj name="" r:id="rId16" imgW="152400" imgH="177165" progId="Equation.KSEE3">
                    <p:embed/>
                    <p:pic>
                      <p:nvPicPr>
                        <p:cNvPr id="0" name="图片 2049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4137" y="5329"/>
                          <a:ext cx="475" cy="55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6" name="图片 45" descr="d5ac3b23-34c7-4998-80d1-e0691376ab0a"/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DFEFE">
                    <a:alpha val="100000"/>
                  </a:srgbClr>
                </a:clrFrom>
                <a:clrTo>
                  <a:srgbClr val="FDFEFE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0800000">
              <a:off x="12869" y="3537"/>
              <a:ext cx="1220" cy="1220"/>
            </a:xfrm>
            <a:prstGeom prst="rect">
              <a:avLst/>
            </a:prstGeom>
          </p:spPr>
        </p:pic>
      </p:grpSp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NEW_CREATE" val="1"/>
</p:tagLst>
</file>

<file path=ppt/tags/tag2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WPS 演示</Application>
  <PresentationFormat>宽屏</PresentationFormat>
  <Paragraphs>36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Cambria Math</vt:lpstr>
      <vt:lpstr>Calibri</vt:lpstr>
      <vt:lpstr>微软雅黑</vt:lpstr>
      <vt:lpstr>Arial Unicode MS</vt:lpstr>
      <vt:lpstr>WPS</vt:lpstr>
      <vt:lpstr>Equation.KSEE3</vt:lpstr>
      <vt:lpstr>Equation.KSEE3</vt:lpstr>
      <vt:lpstr>Equation.KSEE3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贾鑫洋</cp:lastModifiedBy>
  <cp:revision>10</cp:revision>
  <dcterms:created xsi:type="dcterms:W3CDTF">2023-08-09T12:44:00Z</dcterms:created>
  <dcterms:modified xsi:type="dcterms:W3CDTF">2026-09-12T02:42:32Z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5F79B1D2F9BE4F538198A8BAC4A9D62C_12</vt:lpwstr>
  </property>
</Properties>
</file>