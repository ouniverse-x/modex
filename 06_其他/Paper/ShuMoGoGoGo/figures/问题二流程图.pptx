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6199485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400788" y="2277110"/>
            <a:ext cx="13831570" cy="2391410"/>
            <a:chOff x="631" y="3586"/>
            <a:chExt cx="21782" cy="3766"/>
          </a:xfrm>
        </p:grpSpPr>
        <p:sp>
          <p:nvSpPr>
            <p:cNvPr id="17" name="含水率场_C"/>
            <p:cNvSpPr>
              <a:spLocks noGrp="1"/>
            </p:cNvSpPr>
            <p:nvPr/>
          </p:nvSpPr>
          <p:spPr>
            <a:xfrm>
              <a:off x="631" y="4368"/>
              <a:ext cx="2475" cy="1170"/>
            </a:xfrm>
            <a:prstGeom prst="roundRect">
              <a:avLst>
                <a:gd name="adj" fmla="val 23077"/>
              </a:avLst>
            </a:prstGeom>
            <a:solidFill>
              <a:srgbClr val="F0EDFF"/>
            </a:solidFill>
            <a:ln w="19050">
              <a:solidFill>
                <a:srgbClr val="7566D8"/>
              </a:solidFill>
              <a:prstDash val="solid"/>
            </a:ln>
          </p:spPr>
          <p:txBody>
            <a:bodyPr wrap="square" lIns="114300" tIns="66675" rIns="114300" bIns="66675" anchor="ctr">
              <a:normAutofit/>
            </a:bodyPr>
            <a:lstStyle/>
            <a:p>
              <a:pPr algn="ctr">
                <a:defRPr sz="1650" b="1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800" b="1">
                  <a:solidFill>
                    <a:srgbClr val="222222"/>
                  </a:solidFill>
                </a:rPr>
                <a:t>含水率场 </a:t>
              </a:r>
              <a:r>
                <a:rPr sz="1800" b="0">
                  <a:solidFill>
                    <a:srgbClr val="222222"/>
                  </a:solidFill>
                </a:rPr>
                <a:t>C</a:t>
              </a:r>
              <a:endParaRPr sz="1800" b="0">
                <a:solidFill>
                  <a:srgbClr val="222222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环境温度"/>
                <p:cNvSpPr>
                  <a:spLocks noGrp="1"/>
                </p:cNvSpPr>
                <p:nvPr/>
              </p:nvSpPr>
              <p:spPr>
                <a:xfrm>
                  <a:off x="5586" y="6182"/>
                  <a:ext cx="3150" cy="1170"/>
                </a:xfrm>
                <a:prstGeom prst="roundRect">
                  <a:avLst>
                    <a:gd name="adj" fmla="val 23077"/>
                  </a:avLst>
                </a:prstGeom>
                <a:solidFill>
                  <a:srgbClr val="F5F5F5"/>
                </a:solidFill>
                <a:ln w="19050">
                  <a:solidFill>
                    <a:srgbClr val="909090"/>
                  </a:solidFill>
                  <a:prstDash val="solid"/>
                </a:ln>
              </p:spPr>
              <p:txBody>
                <a:bodyPr wrap="square" lIns="114300" tIns="66675" rIns="114300" bIns="66675" anchor="ctr">
                  <a:normAutofit/>
                </a:bodyPr>
                <a:lstStyle/>
                <a:p>
                  <a:pPr algn="ctr">
                    <a:defRPr sz="1500" b="1">
                      <a:solidFill>
                        <a:srgbClr val="22222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  <a:r>
                    <a:rPr sz="1800" b="1">
                      <a:solidFill>
                        <a:srgbClr val="222222"/>
                      </a:solidFill>
                    </a:rPr>
                    <a:t>环境温度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1" i="1">
                              <a:solidFill>
                                <a:srgbClr val="22222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800" b="1" i="1">
                              <a:solidFill>
                                <a:srgbClr val="22222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1800" b="1" i="1">
                              <a:solidFill>
                                <a:srgbClr val="222222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b>
                      </m:sSub>
                      <m:r>
                        <a:rPr lang="en-US" altLang="zh-CN" sz="1800" b="1" i="1">
                          <a:solidFill>
                            <a:srgbClr val="222222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1800" b="1" i="1">
                          <a:solidFill>
                            <a:srgbClr val="222222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1800" b="1" i="1">
                          <a:solidFill>
                            <a:srgbClr val="222222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a14:m>
                  <a:endParaRPr lang="en-US" altLang="zh-CN" sz="1800" b="1" i="1">
                    <a:solidFill>
                      <a:srgbClr val="222222"/>
                    </a:solidFill>
                  </a:endParaRPr>
                </a:p>
              </p:txBody>
            </p:sp>
          </mc:Choice>
          <mc:Fallback>
            <p:sp>
              <p:nvSpPr>
                <p:cNvPr id="6" name="环境温度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6" y="6182"/>
                  <a:ext cx="3150" cy="1170"/>
                </a:xfrm>
                <a:prstGeom prst="roundRect">
                  <a:avLst>
                    <a:gd name="adj" fmla="val 23077"/>
                  </a:avLst>
                </a:prstGeom>
                <a:blipFill rotWithShape="1">
                  <a:blip r:embed="rId1"/>
                </a:blipFill>
                <a:ln w="19050">
                  <a:solidFill>
                    <a:srgbClr val="909090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环境水分浓度"/>
                <p:cNvSpPr>
                  <a:spLocks noGrp="1"/>
                </p:cNvSpPr>
                <p:nvPr/>
              </p:nvSpPr>
              <p:spPr>
                <a:xfrm>
                  <a:off x="15025" y="5237"/>
                  <a:ext cx="3688" cy="1170"/>
                </a:xfrm>
                <a:prstGeom prst="roundRect">
                  <a:avLst>
                    <a:gd name="adj" fmla="val 23077"/>
                  </a:avLst>
                </a:prstGeom>
                <a:solidFill>
                  <a:srgbClr val="F5F5F5"/>
                </a:solidFill>
                <a:ln w="19050">
                  <a:solidFill>
                    <a:srgbClr val="909090"/>
                  </a:solidFill>
                  <a:prstDash val="solid"/>
                </a:ln>
              </p:spPr>
              <p:txBody>
                <a:bodyPr wrap="square" lIns="114300" tIns="66675" rIns="114300" bIns="66675" anchor="ctr">
                  <a:normAutofit/>
                </a:bodyPr>
                <a:lstStyle/>
                <a:p>
                  <a:pPr algn="ctr">
                    <a:defRPr sz="1500" b="1">
                      <a:solidFill>
                        <a:srgbClr val="22222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  <a:r>
                    <a:rPr sz="1500" b="1">
                      <a:solidFill>
                        <a:srgbClr val="22222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环境水分浓度</a:t>
                  </a:r>
                  <a:r>
                    <a:rPr lang="en-US" sz="1500" b="1">
                      <a:solidFill>
                        <a:srgbClr val="22222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rgbClr val="22222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22222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222222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b>
                      </m:sSub>
                      <m:r>
                        <a:rPr lang="en-US" altLang="zh-CN" b="1" i="1">
                          <a:solidFill>
                            <a:srgbClr val="222222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b="1" i="1">
                          <a:solidFill>
                            <a:srgbClr val="222222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b="1" i="1">
                          <a:solidFill>
                            <a:srgbClr val="222222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a14:m>
                  <a:r>
                    <a:rPr lang="en-US" sz="1500" b="1">
                      <a:solidFill>
                        <a:srgbClr val="22222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 </a:t>
                  </a:r>
                  <a:endParaRPr lang="en-US" altLang="zh-CN" sz="1500" b="1" i="1">
                    <a:solidFill>
                      <a:srgbClr val="222222"/>
                    </a:solidFill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7" name="环境水分浓度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25" y="5237"/>
                  <a:ext cx="3688" cy="1170"/>
                </a:xfrm>
                <a:prstGeom prst="roundRect">
                  <a:avLst>
                    <a:gd name="adj" fmla="val 23077"/>
                  </a:avLst>
                </a:prstGeom>
                <a:blipFill rotWithShape="1">
                  <a:blip r:embed="rId2"/>
                </a:blipFill>
                <a:ln w="19050">
                  <a:solidFill>
                    <a:srgbClr val="909090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接箭头连接符 9"/>
            <p:cNvCxnSpPr/>
            <p:nvPr/>
          </p:nvCxnSpPr>
          <p:spPr>
            <a:xfrm>
              <a:off x="3107" y="4935"/>
              <a:ext cx="75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olid"/>
              <a:tailEnd type="arrow" w="sm" len="sm"/>
            </a:ln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热物性参数"/>
                <p:cNvSpPr>
                  <a:spLocks noGrp="1"/>
                </p:cNvSpPr>
                <p:nvPr/>
              </p:nvSpPr>
              <p:spPr>
                <a:xfrm>
                  <a:off x="3857" y="4350"/>
                  <a:ext cx="4864" cy="1170"/>
                </a:xfrm>
                <a:prstGeom prst="roundRect">
                  <a:avLst>
                    <a:gd name="adj" fmla="val 23077"/>
                  </a:avLst>
                </a:prstGeom>
                <a:solidFill>
                  <a:srgbClr val="FFF2DA"/>
                </a:solidFill>
                <a:ln w="19050">
                  <a:solidFill>
                    <a:srgbClr val="D58B30"/>
                  </a:solidFill>
                  <a:prstDash val="solid"/>
                </a:ln>
              </p:spPr>
              <p:txBody>
                <a:bodyPr wrap="square" lIns="114300" tIns="66675" rIns="114300" bIns="66675" anchor="ctr">
                  <a:noAutofit/>
                </a:bodyPr>
                <a:lstStyle/>
                <a:p>
                  <a:pPr algn="ctr">
                    <a:defRPr sz="1500" b="1">
                      <a:solidFill>
                        <a:srgbClr val="22222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  <a:r>
                    <a:rPr sz="1800">
                      <a:solidFill>
                        <a:srgbClr val="222222"/>
                      </a:solidFill>
                    </a:rPr>
                    <a:t>热物性：</a:t>
                  </a:r>
                  <a14:m>
                    <m:oMath xmlns:m="http://schemas.openxmlformats.org/officeDocument/2006/math">
                      <m:r>
                        <a:rPr lang="en-US" altLang="zh-CN" sz="1800">
                          <a:solidFill>
                            <a:srgbClr val="222222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𝜌</m:t>
                      </m:r>
                      <m:r>
                        <a:rPr lang="en-US" altLang="zh-CN" sz="1800">
                          <a:solidFill>
                            <a:srgbClr val="222222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800">
                          <a:solidFill>
                            <a:srgbClr val="222222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c</m:t>
                      </m:r>
                      <m:r>
                        <a:rPr lang="en-US" altLang="zh-CN" sz="1800">
                          <a:solidFill>
                            <a:srgbClr val="222222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)、</m:t>
                      </m:r>
                      <m:sSub>
                        <m:sSubPr>
                          <m:ctrlPr>
                            <a:rPr lang="en-US" altLang="zh-CN" sz="1800">
                              <a:solidFill>
                                <a:srgbClr val="22222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800">
                              <a:solidFill>
                                <a:srgbClr val="22222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800">
                              <a:solidFill>
                                <a:srgbClr val="222222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p</m:t>
                          </m:r>
                        </m:sub>
                      </m:sSub>
                      <m:r>
                        <a:rPr lang="en-US" altLang="zh-CN" sz="1800">
                          <a:solidFill>
                            <a:srgbClr val="222222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800">
                          <a:solidFill>
                            <a:srgbClr val="222222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C</m:t>
                      </m:r>
                      <m:r>
                        <a:rPr lang="en-US" altLang="zh-CN" sz="1800">
                          <a:solidFill>
                            <a:srgbClr val="222222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)、</m:t>
                      </m:r>
                      <m:r>
                        <m:rPr>
                          <m:sty m:val="p"/>
                        </m:rPr>
                        <a:rPr lang="en-US" altLang="zh-CN" sz="1800">
                          <a:solidFill>
                            <a:srgbClr val="222222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k</m:t>
                      </m:r>
                      <m:r>
                        <a:rPr lang="en-US" altLang="zh-CN" sz="1800">
                          <a:solidFill>
                            <a:srgbClr val="222222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800">
                          <a:solidFill>
                            <a:srgbClr val="222222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C</m:t>
                      </m:r>
                      <m:r>
                        <a:rPr lang="en-US" altLang="zh-CN" sz="1800" i="1">
                          <a:solidFill>
                            <a:srgbClr val="222222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a14:m>
                  <a:endParaRPr lang="en-US" altLang="zh-CN" sz="1800" i="1">
                    <a:solidFill>
                      <a:srgbClr val="222222"/>
                    </a:solidFill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1" name="热物性参数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7" y="4350"/>
                  <a:ext cx="4864" cy="1170"/>
                </a:xfrm>
                <a:prstGeom prst="roundRect">
                  <a:avLst>
                    <a:gd name="adj" fmla="val 23077"/>
                  </a:avLst>
                </a:prstGeom>
                <a:blipFill rotWithShape="1">
                  <a:blip r:embed="rId3"/>
                </a:blipFill>
                <a:ln w="19050">
                  <a:solidFill>
                    <a:srgbClr val="D58B30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右中括号 18"/>
            <p:cNvSpPr/>
            <p:nvPr/>
          </p:nvSpPr>
          <p:spPr>
            <a:xfrm>
              <a:off x="8739" y="4935"/>
              <a:ext cx="598" cy="1873"/>
            </a:xfrm>
            <a:prstGeom prst="rightBracket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21" name="直接箭头连接符 20"/>
            <p:cNvCxnSpPr/>
            <p:nvPr/>
          </p:nvCxnSpPr>
          <p:spPr>
            <a:xfrm>
              <a:off x="9357" y="5842"/>
              <a:ext cx="45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温度场_T"/>
            <p:cNvSpPr>
              <a:spLocks noGrp="1"/>
            </p:cNvSpPr>
            <p:nvPr/>
          </p:nvSpPr>
          <p:spPr>
            <a:xfrm>
              <a:off x="9810" y="5237"/>
              <a:ext cx="4642" cy="1170"/>
            </a:xfrm>
            <a:prstGeom prst="roundRect">
              <a:avLst>
                <a:gd name="adj" fmla="val 23077"/>
              </a:avLst>
            </a:prstGeom>
            <a:solidFill>
              <a:srgbClr val="EAF2FF"/>
            </a:solidFill>
            <a:ln w="19050">
              <a:solidFill>
                <a:srgbClr val="4E80B7"/>
              </a:solidFill>
              <a:prstDash val="solid"/>
            </a:ln>
          </p:spPr>
          <p:txBody>
            <a:bodyPr wrap="square" lIns="114300" tIns="66675" rIns="114300" bIns="66675" anchor="ctr">
              <a:noAutofit/>
            </a:bodyPr>
            <a:lstStyle/>
            <a:p>
              <a:pPr algn="ctr">
                <a:defRPr sz="1575" b="1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800" b="1">
                  <a:solidFill>
                    <a:srgbClr val="222222"/>
                  </a:solidFill>
                </a:rPr>
                <a:t>热传导方程 → 温度场 </a:t>
              </a:r>
              <a:r>
                <a:rPr sz="1800" b="0">
                  <a:solidFill>
                    <a:srgbClr val="222222"/>
                  </a:solidFill>
                </a:rPr>
                <a:t>T</a:t>
              </a:r>
              <a:endParaRPr sz="1800" b="0">
                <a:solidFill>
                  <a:srgbClr val="222222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扩散系数_D"/>
                <p:cNvSpPr>
                  <a:spLocks noGrp="1"/>
                </p:cNvSpPr>
                <p:nvPr/>
              </p:nvSpPr>
              <p:spPr>
                <a:xfrm>
                  <a:off x="15023" y="3586"/>
                  <a:ext cx="3675" cy="1170"/>
                </a:xfrm>
                <a:prstGeom prst="roundRect">
                  <a:avLst>
                    <a:gd name="adj" fmla="val 23077"/>
                  </a:avLst>
                </a:prstGeom>
                <a:solidFill>
                  <a:srgbClr val="FFF2DA"/>
                </a:solidFill>
                <a:ln w="19050">
                  <a:solidFill>
                    <a:srgbClr val="D58B30"/>
                  </a:solidFill>
                  <a:prstDash val="solid"/>
                </a:ln>
              </p:spPr>
              <p:txBody>
                <a:bodyPr wrap="square" lIns="114300" tIns="66675" rIns="114300" bIns="66675" anchor="ctr">
                  <a:normAutofit/>
                </a:bodyPr>
                <a:lstStyle/>
                <a:p>
                  <a:pPr algn="ctr">
                    <a:defRPr sz="1575" b="1">
                      <a:solidFill>
                        <a:srgbClr val="22222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defRPr>
                  </a:pPr>
                  <a:r>
                    <a:rPr sz="1575" b="1">
                      <a:solidFill>
                        <a:srgbClr val="22222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扩散系数 </a:t>
                  </a:r>
                  <a14:m>
                    <m:oMath xmlns:m="http://schemas.openxmlformats.org/officeDocument/2006/math">
                      <m:r>
                        <a:rPr lang="en-US" altLang="zh-CN" sz="1575" b="1" i="1">
                          <a:solidFill>
                            <a:srgbClr val="222222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𝐷</m:t>
                      </m:r>
                      <m:r>
                        <a:rPr lang="en-US" altLang="zh-CN" sz="1575" b="1" i="1">
                          <a:solidFill>
                            <a:srgbClr val="222222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1575" b="1" i="1">
                          <a:solidFill>
                            <a:srgbClr val="222222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𝐶</m:t>
                      </m:r>
                      <m:r>
                        <a:rPr lang="en-US" altLang="zh-CN" sz="1575" b="1" i="1">
                          <a:solidFill>
                            <a:srgbClr val="222222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575" b="1" i="1">
                              <a:solidFill>
                                <a:srgbClr val="222222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575" b="1" i="1">
                              <a:solidFill>
                                <a:srgbClr val="222222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1575" b="1" i="1">
                              <a:solidFill>
                                <a:srgbClr val="222222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1575" b="1" i="1">
                          <a:solidFill>
                            <a:srgbClr val="222222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)</m:t>
                      </m:r>
                    </m:oMath>
                  </a14:m>
                  <a:endParaRPr lang="en-US" sz="1575" b="1" i="1">
                    <a:solidFill>
                      <a:srgbClr val="222222"/>
                    </a:solidFill>
                    <a:latin typeface="Cambria Math" panose="02040503050406030204" charset="0"/>
                    <a:ea typeface="微软雅黑" panose="020B0503020204020204" charset="-122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5" name="扩散系数_D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23" y="3586"/>
                  <a:ext cx="3675" cy="1170"/>
                </a:xfrm>
                <a:prstGeom prst="roundRect">
                  <a:avLst>
                    <a:gd name="adj" fmla="val 23077"/>
                  </a:avLst>
                </a:prstGeom>
                <a:blipFill rotWithShape="1">
                  <a:blip r:embed="rId4"/>
                </a:blipFill>
                <a:ln w="19050">
                  <a:solidFill>
                    <a:srgbClr val="D58B30"/>
                  </a:solidFill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接连接符 22"/>
            <p:cNvCxnSpPr/>
            <p:nvPr/>
          </p:nvCxnSpPr>
          <p:spPr>
            <a:xfrm flipV="1">
              <a:off x="3459" y="4040"/>
              <a:ext cx="0" cy="89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/>
          </p:nvCxnSpPr>
          <p:spPr>
            <a:xfrm>
              <a:off x="3457" y="4039"/>
              <a:ext cx="11568" cy="1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14" idx="3"/>
            </p:cNvCxnSpPr>
            <p:nvPr/>
          </p:nvCxnSpPr>
          <p:spPr>
            <a:xfrm>
              <a:off x="14452" y="5822"/>
              <a:ext cx="573" cy="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4" name="右中括号 33"/>
            <p:cNvSpPr/>
            <p:nvPr/>
          </p:nvSpPr>
          <p:spPr>
            <a:xfrm>
              <a:off x="18700" y="4155"/>
              <a:ext cx="598" cy="1758"/>
            </a:xfrm>
            <a:prstGeom prst="rightBracket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35" name="直接箭头连接符 34"/>
            <p:cNvCxnSpPr/>
            <p:nvPr/>
          </p:nvCxnSpPr>
          <p:spPr>
            <a:xfrm>
              <a:off x="19299" y="5034"/>
              <a:ext cx="490" cy="1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水分扩散方程"/>
            <p:cNvSpPr>
              <a:spLocks noGrp="1"/>
            </p:cNvSpPr>
            <p:nvPr/>
          </p:nvSpPr>
          <p:spPr>
            <a:xfrm>
              <a:off x="19788" y="4481"/>
              <a:ext cx="2625" cy="1170"/>
            </a:xfrm>
            <a:prstGeom prst="roundRect">
              <a:avLst>
                <a:gd name="adj" fmla="val 23077"/>
              </a:avLst>
            </a:prstGeom>
            <a:solidFill>
              <a:srgbClr val="EDF8EF"/>
            </a:solidFill>
            <a:ln w="19050">
              <a:solidFill>
                <a:srgbClr val="52945F"/>
              </a:solidFill>
              <a:prstDash val="solid"/>
            </a:ln>
          </p:spPr>
          <p:txBody>
            <a:bodyPr wrap="square" lIns="114300" tIns="66675" rIns="114300" bIns="66675" anchor="ctr">
              <a:normAutofit/>
            </a:bodyPr>
            <a:lstStyle/>
            <a:p>
              <a:pPr algn="ctr">
                <a:defRPr sz="1650" b="1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1650" b="1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水分扩散方程</a:t>
              </a:r>
              <a:endParaRPr sz="165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37" name="肘形连接符 36"/>
            <p:cNvCxnSpPr>
              <a:stCxn id="36" idx="2"/>
              <a:endCxn id="17" idx="2"/>
            </p:cNvCxnSpPr>
            <p:nvPr/>
          </p:nvCxnSpPr>
          <p:spPr>
            <a:xfrm rot="5400000" flipH="1">
              <a:off x="11429" y="-4022"/>
              <a:ext cx="113" cy="19232"/>
            </a:xfrm>
            <a:prstGeom prst="bentConnector3">
              <a:avLst>
                <a:gd name="adj1" fmla="val -1842035"/>
              </a:avLst>
            </a:prstGeom>
            <a:ln w="19050">
              <a:solidFill>
                <a:schemeClr val="tx1"/>
              </a:solidFill>
              <a:prstDash val="sysDot"/>
              <a:tailEnd type="arrow" w="sm" len="sm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WPS 演示</Application>
  <PresentationFormat>Converted Presentation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Cambria Math</vt:lpstr>
      <vt:lpstr>MS Mincho</vt:lpstr>
      <vt:lpstr>Segoe Print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贾鑫洋</cp:lastModifiedBy>
  <cp:revision>2</cp:revision>
  <dcterms:created xsi:type="dcterms:W3CDTF">2026-09-11T12:20:00Z</dcterms:created>
  <dcterms:modified xsi:type="dcterms:W3CDTF">2026-09-12T01:41:39Z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D84E79FF5DCB4EAD8473D17B1966BA8F_12</vt:lpwstr>
  </property>
</Properties>
</file>